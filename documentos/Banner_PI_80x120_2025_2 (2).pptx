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000" cx="2880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EqAWVSB1MgMmbvTxt8Y17nfmZ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160847" y="13420106"/>
            <a:ext cx="24478200" cy="9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319577" y="24480424"/>
            <a:ext cx="20160900" cy="110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8"/>
              <a:buFont typeface="Arial"/>
              <a:buNone/>
              <a:defRPr sz="14398"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 sz="12665"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 sz="10798"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9153" y="10080424"/>
            <a:ext cx="259218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275133" y="27760847"/>
            <a:ext cx="24480300" cy="8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5332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75133" y="18308995"/>
            <a:ext cx="24480300" cy="9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399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9153" y="10080424"/>
            <a:ext cx="128592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65637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2"/>
            </a:lvl1pPr>
            <a:lvl2pPr indent="-431774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199"/>
            </a:lvl2pPr>
            <a:lvl3pPr indent="-39791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399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4501587" y="10080424"/>
            <a:ext cx="128592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65637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2"/>
            </a:lvl1pPr>
            <a:lvl2pPr indent="-431774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199"/>
            </a:lvl2pPr>
            <a:lvl3pPr indent="-39791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399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9153" y="9669842"/>
            <a:ext cx="127260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199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99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9153" y="13699472"/>
            <a:ext cx="12726000" cy="24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31774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1pPr>
            <a:lvl2pPr indent="-39791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399"/>
            </a:lvl3pPr>
            <a:lvl4pPr indent="-364049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9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9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9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9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9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4630688" y="9669842"/>
            <a:ext cx="127302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199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99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4630688" y="13699472"/>
            <a:ext cx="12730200" cy="24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31774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1pPr>
            <a:lvl2pPr indent="-39791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399"/>
            </a:lvl3pPr>
            <a:lvl4pPr indent="-364049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9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9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9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9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9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9153" y="1720636"/>
            <a:ext cx="9475200" cy="7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1259259" y="1720636"/>
            <a:ext cx="16101600" cy="36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99499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37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2"/>
            </a:lvl2pPr>
            <a:lvl3pPr indent="-431774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3pPr>
            <a:lvl4pPr indent="-39791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91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91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91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912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912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9153" y="9039154"/>
            <a:ext cx="9475200" cy="29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599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644445" y="30239153"/>
            <a:ext cx="172803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644445" y="3860317"/>
            <a:ext cx="17280300" cy="25919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644445" y="33809524"/>
            <a:ext cx="17280300" cy="5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599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44847" y="11374624"/>
            <a:ext cx="28510200" cy="25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690047" y="16919601"/>
            <a:ext cx="36861300" cy="6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7372451" y="10540701"/>
            <a:ext cx="36861300" cy="19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9153" y="10080424"/>
            <a:ext cx="259218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1142885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8"/>
              <a:buFont typeface="Arial"/>
              <a:buChar char="•"/>
              <a:defRPr b="0" i="0" sz="143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32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14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6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6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6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6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6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6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7.png"/><Relationship Id="rId11" Type="http://schemas.openxmlformats.org/officeDocument/2006/relationships/image" Target="../media/image3.png"/><Relationship Id="rId22" Type="http://schemas.openxmlformats.org/officeDocument/2006/relationships/image" Target="../media/image19.png"/><Relationship Id="rId10" Type="http://schemas.openxmlformats.org/officeDocument/2006/relationships/image" Target="../media/image17.png"/><Relationship Id="rId21" Type="http://schemas.openxmlformats.org/officeDocument/2006/relationships/image" Target="../media/image18.png"/><Relationship Id="rId13" Type="http://schemas.openxmlformats.org/officeDocument/2006/relationships/image" Target="../media/image14.png"/><Relationship Id="rId12" Type="http://schemas.openxmlformats.org/officeDocument/2006/relationships/image" Target="../media/image9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15" Type="http://schemas.openxmlformats.org/officeDocument/2006/relationships/image" Target="../media/image12.png"/><Relationship Id="rId14" Type="http://schemas.openxmlformats.org/officeDocument/2006/relationships/image" Target="../media/image11.png"/><Relationship Id="rId17" Type="http://schemas.openxmlformats.org/officeDocument/2006/relationships/image" Target="../media/image6.png"/><Relationship Id="rId16" Type="http://schemas.openxmlformats.org/officeDocument/2006/relationships/image" Target="../media/image10.png"/><Relationship Id="rId5" Type="http://schemas.openxmlformats.org/officeDocument/2006/relationships/image" Target="../media/image13.png"/><Relationship Id="rId19" Type="http://schemas.openxmlformats.org/officeDocument/2006/relationships/image" Target="../media/image15.png"/><Relationship Id="rId6" Type="http://schemas.openxmlformats.org/officeDocument/2006/relationships/image" Target="../media/image1.png"/><Relationship Id="rId18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0" y="10647"/>
            <a:ext cx="28774519" cy="4317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432450" y="2548475"/>
            <a:ext cx="219351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3832">
                <a:solidFill>
                  <a:schemeClr val="dk1"/>
                </a:solidFill>
              </a:rPr>
              <a:t>Eric De Lucas Silva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Stephanie Macedo da Silva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En Hsiang Ch</a:t>
            </a:r>
            <a:r>
              <a:rPr b="1" lang="pt-BR" sz="3832">
                <a:solidFill>
                  <a:schemeClr val="dk1"/>
                </a:solidFill>
              </a:rPr>
              <a:t>ien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Joel Ademir Laura Copa.</a:t>
            </a:r>
            <a:endParaRPr sz="1966"/>
          </a:p>
        </p:txBody>
      </p:sp>
      <p:sp>
        <p:nvSpPr>
          <p:cNvPr id="91" name="Google Shape;91;p1"/>
          <p:cNvSpPr txBox="1"/>
          <p:nvPr/>
        </p:nvSpPr>
        <p:spPr>
          <a:xfrm>
            <a:off x="784400" y="4763050"/>
            <a:ext cx="13284600" cy="6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b="1"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A equipe ESC é formada por estudantes com habilidades diversificadas, que se organizaram para cobrir todas as etapas do desenvolvimento do site.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</a:t>
            </a:r>
            <a:r>
              <a:rPr b="1" lang="pt-BR" sz="3200">
                <a:solidFill>
                  <a:schemeClr val="dk1"/>
                </a:solidFill>
              </a:rPr>
              <a:t>Eric De Lucas Silva </a:t>
            </a:r>
            <a:r>
              <a:rPr lang="pt-BR" sz="3200">
                <a:solidFill>
                  <a:schemeClr val="dk1"/>
                </a:solidFill>
              </a:rPr>
              <a:t>foi o líder do nosso projeto</a:t>
            </a:r>
            <a:r>
              <a:rPr lang="pt-BR" sz="3200">
                <a:solidFill>
                  <a:schemeClr val="dk1"/>
                </a:solidFill>
              </a:rPr>
              <a:t> e</a:t>
            </a:r>
            <a:r>
              <a:rPr lang="pt-BR" sz="3200">
                <a:solidFill>
                  <a:schemeClr val="dk1"/>
                </a:solidFill>
              </a:rPr>
              <a:t> </a:t>
            </a:r>
            <a:r>
              <a:rPr lang="pt-BR" sz="3200">
                <a:solidFill>
                  <a:schemeClr val="dk1"/>
                </a:solidFill>
              </a:rPr>
              <a:t>contribuiu</a:t>
            </a:r>
            <a:r>
              <a:rPr lang="pt-BR" sz="3200">
                <a:solidFill>
                  <a:schemeClr val="dk1"/>
                </a:solidFill>
              </a:rPr>
              <a:t> com o </a:t>
            </a:r>
            <a:r>
              <a:rPr lang="pt-BR" sz="3200">
                <a:solidFill>
                  <a:schemeClr val="dk1"/>
                </a:solidFill>
              </a:rPr>
              <a:t>desenvolvimento</a:t>
            </a:r>
            <a:r>
              <a:rPr lang="pt-BR" sz="3200">
                <a:solidFill>
                  <a:schemeClr val="dk1"/>
                </a:solidFill>
              </a:rPr>
              <a:t> fullstack do site.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 </a:t>
            </a:r>
            <a:r>
              <a:rPr b="1" lang="pt-BR" sz="3200">
                <a:solidFill>
                  <a:schemeClr val="dk1"/>
                </a:solidFill>
              </a:rPr>
              <a:t>En Hsiang</a:t>
            </a:r>
            <a:r>
              <a:rPr lang="pt-BR" sz="3200">
                <a:solidFill>
                  <a:schemeClr val="dk1"/>
                </a:solidFill>
              </a:rPr>
              <a:t>  contribuiu também no desenvolvimento fullstack do sit</a:t>
            </a:r>
            <a:r>
              <a:rPr lang="pt-BR" sz="3200">
                <a:solidFill>
                  <a:schemeClr val="dk1"/>
                </a:solidFill>
              </a:rPr>
              <a:t>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</a:t>
            </a:r>
            <a:r>
              <a:rPr b="1" lang="pt-BR" sz="3200">
                <a:solidFill>
                  <a:schemeClr val="dk1"/>
                </a:solidFill>
              </a:rPr>
              <a:t>Stephanie Macedo da Silva </a:t>
            </a:r>
            <a:r>
              <a:rPr lang="pt-BR" sz="3200">
                <a:solidFill>
                  <a:schemeClr val="dk1"/>
                </a:solidFill>
              </a:rPr>
              <a:t>foi</a:t>
            </a:r>
            <a:r>
              <a:rPr b="1" lang="pt-BR" sz="3200">
                <a:solidFill>
                  <a:schemeClr val="dk1"/>
                </a:solidFill>
              </a:rPr>
              <a:t> </a:t>
            </a:r>
            <a:r>
              <a:rPr lang="pt-BR" sz="3200">
                <a:solidFill>
                  <a:schemeClr val="dk1"/>
                </a:solidFill>
              </a:rPr>
              <a:t>encarregada ao desenvolvimento  Front-end do site.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</a:t>
            </a:r>
            <a:r>
              <a:rPr b="1" lang="pt-BR" sz="3200">
                <a:solidFill>
                  <a:schemeClr val="dk1"/>
                </a:solidFill>
              </a:rPr>
              <a:t>Joel Ademir Laura Copa </a:t>
            </a:r>
            <a:r>
              <a:rPr lang="pt-BR" sz="3200">
                <a:solidFill>
                  <a:schemeClr val="dk1"/>
                </a:solidFill>
              </a:rPr>
              <a:t>contribuiu o desenvolvimento Back-end do site.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85714"/>
            <a:ext cx="2454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438000" y="1611575"/>
            <a:ext cx="27924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65"/>
              <a:t>ESC</a:t>
            </a:r>
            <a:endParaRPr sz="19864"/>
          </a:p>
        </p:txBody>
      </p:sp>
      <p:sp>
        <p:nvSpPr>
          <p:cNvPr id="94" name="Google Shape;94;p1"/>
          <p:cNvSpPr/>
          <p:nvPr/>
        </p:nvSpPr>
        <p:spPr>
          <a:xfrm>
            <a:off x="1540861" y="288296"/>
            <a:ext cx="258096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</a:t>
            </a:r>
            <a:r>
              <a:rPr b="1" lang="pt-BR" sz="7999">
                <a:solidFill>
                  <a:schemeClr val="lt1"/>
                </a:solidFill>
              </a:rPr>
              <a:t>5</a:t>
            </a:r>
            <a:endParaRPr sz="1866"/>
          </a:p>
        </p:txBody>
      </p:sp>
      <p:sp>
        <p:nvSpPr>
          <p:cNvPr id="95" name="Google Shape;95;p1"/>
          <p:cNvSpPr txBox="1"/>
          <p:nvPr/>
        </p:nvSpPr>
        <p:spPr>
          <a:xfrm>
            <a:off x="14717563" y="4763043"/>
            <a:ext cx="13284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pt-BR" sz="3200">
                <a:solidFill>
                  <a:schemeClr val="dk1"/>
                </a:solidFill>
              </a:rPr>
              <a:t>O projeto Lideranças Empáticas enfrenta dificuldades na organização e acompanhamento das atividades, metas e doações realizadas pelos alunos e mentores. Atualmente, as informações são controladas de forma manual, o que gera erros, falta de integração e dificuldade na análise dos resultados. Assim, o principal problema é a ausência de um sistema centralizado que facilite o gerenciamento das ações e torne o processo mais prático e eficiente.</a:t>
            </a:r>
            <a:endParaRPr sz="1866"/>
          </a:p>
        </p:txBody>
      </p:sp>
      <p:sp>
        <p:nvSpPr>
          <p:cNvPr id="96" name="Google Shape;96;p1"/>
          <p:cNvSpPr txBox="1"/>
          <p:nvPr/>
        </p:nvSpPr>
        <p:spPr>
          <a:xfrm>
            <a:off x="992450" y="35886025"/>
            <a:ext cx="12868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A solução proposta é o desenvolvimento de uma plataforma web responsiva que centralize todas as informações do projeto Lideranças Empáticas. O sistema permitirá o cadastro de usuários, equipes, atividades e doações, além do acompanhamento de metas e geração de relatórios automáticos. Com isso, o processo de gestão se torna mais organizado e rápido, facilitando o trabalho de administradores, professores, mentores e alunos, e fortalecendo o impacto social do projeto.</a:t>
            </a:r>
            <a:endParaRPr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442700" y="2981350"/>
            <a:ext cx="25914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7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Cristina Machado Correa Leite</a:t>
            </a:r>
            <a:r>
              <a:rPr b="1" lang="pt-BR" sz="2766">
                <a:solidFill>
                  <a:schemeClr val="dk2"/>
                </a:solidFill>
              </a:rPr>
              <a:t>;</a:t>
            </a:r>
            <a:r>
              <a:rPr b="1" i="0" lang="pt-BR" sz="27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Francisco de Souza Escobar; Jesus De Lisboa Gomes</a:t>
            </a:r>
            <a:r>
              <a:rPr b="1" lang="pt-BR" sz="2766">
                <a:solidFill>
                  <a:schemeClr val="dk2"/>
                </a:solidFill>
              </a:rPr>
              <a:t>; David De Oliveira Lemes; Katia Milani Lara Bossi.</a:t>
            </a:r>
            <a:endParaRPr b="1" i="0" sz="596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792875" y="35886025"/>
            <a:ext cx="131340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</a:rPr>
              <a:t>Futuro do projeto</a:t>
            </a:r>
            <a:endParaRPr b="1"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3200" u="none" cap="none" strike="noStrike">
                <a:solidFill>
                  <a:schemeClr val="dk1"/>
                </a:solidFill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No futuro, o projeto Lideranças Empáticas poderá ser expandido com novas funcionalidades e integrações, tornando a plataforma ainda mais completa. Entre as melhorias previstas estão a implementação de dashboards com gráficos interativos, notificações automáticas por e-mail ou SMS, e exportação de relatórios em PDF. Além disso, planeja-se a integração com APIs externas de pagamento e doações, ampliando o alcance e a eficiência do sistema. Com o tempo, a ferramenta poderá ser utilizada em outras instituições e projetos sociais, fortalecendo seu papel como uma solução digital de gestão e impacto social.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65739" y="10040145"/>
            <a:ext cx="12868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8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 sz="1866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66"/>
          </a:p>
        </p:txBody>
      </p:sp>
      <p:pic>
        <p:nvPicPr>
          <p:cNvPr descr="Uma imagem contendo óculos&#10;&#10;O conteúdo gerado por IA pode estar incorreto.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1" y="40355418"/>
            <a:ext cx="3095901" cy="3115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371" y="40382151"/>
            <a:ext cx="3095900" cy="310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74000" y="12121625"/>
            <a:ext cx="2551220" cy="131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O conteúdo gerado por IA pode estar incorreto." id="103" name="Google Shape;10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88087" y="11861150"/>
            <a:ext cx="1948625" cy="194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318588" y="11761075"/>
            <a:ext cx="1481191" cy="20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5" name="Google Shape;10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531800" y="12065950"/>
            <a:ext cx="1481175" cy="14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Ícone&#10;&#10;O conteúdo gerado por IA pode estar incorreto." id="106" name="Google Shape;106;p1"/>
          <p:cNvPicPr preferRelativeResize="0"/>
          <p:nvPr/>
        </p:nvPicPr>
        <p:blipFill rotWithShape="1">
          <a:blip r:embed="rId10">
            <a:alphaModFix/>
          </a:blip>
          <a:srcRect b="0" l="18252" r="15997" t="0"/>
          <a:stretch/>
        </p:blipFill>
        <p:spPr>
          <a:xfrm>
            <a:off x="26140825" y="11990688"/>
            <a:ext cx="1481175" cy="168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7" name="Google Shape;10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101975" y="12121625"/>
            <a:ext cx="1369825" cy="136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8" name="Google Shape;10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219562" y="11901372"/>
            <a:ext cx="1810312" cy="181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40275" y="11746088"/>
            <a:ext cx="9277301" cy="54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60700" y="27289372"/>
            <a:ext cx="8824525" cy="518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66663" y="19542800"/>
            <a:ext cx="9212575" cy="5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016913" y="11273163"/>
            <a:ext cx="992400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10963" y="26823413"/>
            <a:ext cx="992400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 title="qrcode_www.linkedin.co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3861413" y="32257927"/>
            <a:ext cx="3286100" cy="32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 title="qrcode_www.linkedin.com (1)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4948450" y="32257925"/>
            <a:ext cx="3286100" cy="328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 title="qrcode_www.linkedin.com (2)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1222025" y="32234863"/>
            <a:ext cx="3332225" cy="33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title="qrcode_www.linkedin.com (3)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7541726" y="32257911"/>
            <a:ext cx="3286100" cy="328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16">
            <a:alphaModFix/>
          </a:blip>
          <a:srcRect b="0" l="0" r="3260" t="0"/>
          <a:stretch/>
        </p:blipFill>
        <p:spPr>
          <a:xfrm>
            <a:off x="3178600" y="19132313"/>
            <a:ext cx="960065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 title="Captura de tela 2025-11-05 190404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6087612" y="14606820"/>
            <a:ext cx="9924000" cy="5605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22">
            <a:alphaModFix/>
          </a:blip>
          <a:srcRect b="0" l="7827" r="7181" t="0"/>
          <a:stretch/>
        </p:blipFill>
        <p:spPr>
          <a:xfrm>
            <a:off x="16087600" y="20380300"/>
            <a:ext cx="9923999" cy="55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23">
            <a:alphaModFix/>
          </a:blip>
          <a:srcRect b="0" l="10312" r="11562" t="0"/>
          <a:stretch/>
        </p:blipFill>
        <p:spPr>
          <a:xfrm>
            <a:off x="16087600" y="26310550"/>
            <a:ext cx="9924000" cy="56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